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8888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5720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EB8C00"/>
          </a:solidFill>
          <a:ln w="12700">
            <a:solidFill>
              <a:srgbClr val="EB8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" y="45720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B600"/>
          </a:solidFill>
          <a:ln w="12700">
            <a:solidFill>
              <a:srgbClr val="FFB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END-STATE 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Swan Budget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 Platform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SAP data  ·  LLM-driven detection  ·  Databricks ML mitigations  ·  SAC reforecasting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 on the SAP Business Data Cloud stack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Utkarsh Kumar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FRAME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flat-file demo to production at SAP-grade scale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end-state must look fundamentally different from the hackathon prototype.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956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Swan Budget Resilience Platform  |  End-State 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22208" y="3291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PROTOTYPE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305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7D7D7D"/>
          </a:solidFill>
          <a:ln w="12700">
            <a:solidFill>
              <a:srgbClr val="7D7D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Flat-file actuals, hand-curated assumptions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877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7D7D7D"/>
          </a:solidFill>
          <a:ln w="12700">
            <a:solidFill>
              <a:srgbClr val="7D7D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514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Pre-modelled black swan event library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449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7D7D7D"/>
          </a:solidFill>
          <a:ln w="12700">
            <a:solidFill>
              <a:srgbClr val="7D7D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71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mitigations from a static prompt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5021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7D7D7D"/>
          </a:solidFill>
          <a:ln w="12700">
            <a:solidFill>
              <a:srgbClr val="7D7D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290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and audit trail in a single browser session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593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7D7D7D"/>
          </a:solidFill>
          <a:ln w="12700">
            <a:solidFill>
              <a:srgbClr val="7D7D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86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budget computed in the React frontend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463040"/>
            <a:ext cx="4023360" cy="320040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  ·  PRODUCTION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1305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057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SAP S/4HANA actuals via Datasphere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5877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514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news-monitoring agent detects events in real time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0449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971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ML grounds mitigations in client history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021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4290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Planning recomputes the budget on user vote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9593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886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on SAP Build (pro-code, CAP + UI5)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layers, one closed loop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→ Grounding → Recommendation → Decision → Reforecast.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956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Swan Budget Resilience Platform  |  End-State 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22208" y="3291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50876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508760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0876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layer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840480" y="1463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 ingest news, supplier filings, weather, geopolitical feeds → emit a Black Swan signal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21031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10312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0876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and model layer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84048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Datasphere federates S/4HANA, Ariba, IBP. Databricks ML grounds the signal in historical data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4360" y="26974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9436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269748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508760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layer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84048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engine: Databricks generates candidate strategies, LLM narrates them with compliance checks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94360" y="32918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9436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3291840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50876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layer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3840480" y="3246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Build UI (Fiori/UI5) routes strategies to stakeholders. Voting, comments, audit trail captured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94360" y="38862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94360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3886200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50876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layer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3840480" y="3840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Planning recomputes FY budget via driver-based model on approved strategies. Write-back to S/4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learning: each accepted mitigation re-trains the Databricks model on actual outcomes.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 Datasphere as the single semantic layer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downstream component reads through Datasphere — no point-to-point integrations.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956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Swan Budget Resilience Platform  |  End-State 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22208" y="3291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194560"/>
            <a:ext cx="1828800" cy="128016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33172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 Datasphere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0" y="3163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federation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" y="141732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1453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S/4HANA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17099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Actuals, GL, MM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240280" y="1691640"/>
            <a:ext cx="1417320" cy="1143000"/>
          </a:xfrm>
          <a:prstGeom prst="line">
            <a:avLst/>
          </a:prstGeom>
          <a:noFill/>
          <a:ln w="12700">
            <a:solidFill>
              <a:srgbClr val="7D7D7D"/>
            </a:solidFill>
            <a:prstDash val="solid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502920" y="210312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139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 Ariba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23957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Suppliers, contracts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240280" y="2377440"/>
            <a:ext cx="1417320" cy="457200"/>
          </a:xfrm>
          <a:prstGeom prst="line">
            <a:avLst/>
          </a:prstGeom>
          <a:noFill/>
          <a:ln w="12700">
            <a:solidFill>
              <a:srgbClr val="7D7D7D"/>
            </a:solidFill>
            <a:prstDash val="solid"/>
            <a:tailEnd type="arrow"/>
          </a:ln>
        </p:spPr>
      </p:sp>
      <p:sp>
        <p:nvSpPr>
          <p:cNvPr id="21" name="Shape 18"/>
          <p:cNvSpPr/>
          <p:nvPr/>
        </p:nvSpPr>
        <p:spPr>
          <a:xfrm>
            <a:off x="502920" y="278892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28254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 IBP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30815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supply plans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 flipV="1">
            <a:off x="2240280" y="2834640"/>
            <a:ext cx="1417320" cy="228600"/>
          </a:xfrm>
          <a:prstGeom prst="line">
            <a:avLst/>
          </a:prstGeom>
          <a:noFill/>
          <a:ln w="12700">
            <a:solidFill>
              <a:srgbClr val="7D7D7D"/>
            </a:solidFill>
            <a:prstDash val="solid"/>
            <a:tailEnd type="arrow"/>
          </a:ln>
        </p:spPr>
      </p:sp>
      <p:sp>
        <p:nvSpPr>
          <p:cNvPr id="25" name="Shape 22"/>
          <p:cNvSpPr/>
          <p:nvPr/>
        </p:nvSpPr>
        <p:spPr>
          <a:xfrm>
            <a:off x="502920" y="347472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3511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feeds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37673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FX, commodities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 flipV="1">
            <a:off x="2240280" y="2834640"/>
            <a:ext cx="1417320" cy="914400"/>
          </a:xfrm>
          <a:prstGeom prst="line">
            <a:avLst/>
          </a:prstGeom>
          <a:noFill/>
          <a:ln w="12700">
            <a:solidFill>
              <a:srgbClr val="7D7D7D"/>
            </a:solidFill>
            <a:prstDash val="solid"/>
            <a:tailEnd type="arrow"/>
          </a:ln>
        </p:spPr>
      </p:sp>
      <p:sp>
        <p:nvSpPr>
          <p:cNvPr id="29" name="Shape 26"/>
          <p:cNvSpPr/>
          <p:nvPr/>
        </p:nvSpPr>
        <p:spPr>
          <a:xfrm>
            <a:off x="6903720" y="1417320"/>
            <a:ext cx="17373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C69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0" y="1453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Databricks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949440" y="17099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and Delta Sharing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 flipV="1">
            <a:off x="5486400" y="1691640"/>
            <a:ext cx="1417320" cy="1143000"/>
          </a:xfrm>
          <a:prstGeom prst="line">
            <a:avLst/>
          </a:prstGeom>
          <a:noFill/>
          <a:ln w="12700">
            <a:solidFill>
              <a:srgbClr val="DC6900"/>
            </a:solidFill>
            <a:prstDash val="solid"/>
            <a:tailEnd type="arrow"/>
          </a:ln>
        </p:spPr>
      </p:sp>
      <p:sp>
        <p:nvSpPr>
          <p:cNvPr id="33" name="Shape 30"/>
          <p:cNvSpPr/>
          <p:nvPr/>
        </p:nvSpPr>
        <p:spPr>
          <a:xfrm>
            <a:off x="6903720" y="2103120"/>
            <a:ext cx="17373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C69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49440" y="2139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 Planning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949440" y="23957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Driver-based model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 flipV="1">
            <a:off x="5486400" y="2377440"/>
            <a:ext cx="1417320" cy="457200"/>
          </a:xfrm>
          <a:prstGeom prst="line">
            <a:avLst/>
          </a:prstGeom>
          <a:noFill/>
          <a:ln w="12700">
            <a:solidFill>
              <a:srgbClr val="DC6900"/>
            </a:solidFill>
            <a:prstDash val="solid"/>
            <a:tailEnd type="arrow"/>
          </a:ln>
        </p:spPr>
      </p:sp>
      <p:sp>
        <p:nvSpPr>
          <p:cNvPr id="37" name="Shape 34"/>
          <p:cNvSpPr/>
          <p:nvPr/>
        </p:nvSpPr>
        <p:spPr>
          <a:xfrm>
            <a:off x="6903720" y="2788920"/>
            <a:ext cx="17373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C69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49440" y="28254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 Build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949440" y="30815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Pro-code application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486400" y="2834640"/>
            <a:ext cx="1417320" cy="228600"/>
          </a:xfrm>
          <a:prstGeom prst="line">
            <a:avLst/>
          </a:prstGeom>
          <a:noFill/>
          <a:ln w="12700">
            <a:solidFill>
              <a:srgbClr val="DC6900"/>
            </a:solidFill>
            <a:prstDash val="solid"/>
            <a:tailEnd type="arrow"/>
          </a:ln>
        </p:spPr>
      </p:sp>
      <p:sp>
        <p:nvSpPr>
          <p:cNvPr id="41" name="Shape 38"/>
          <p:cNvSpPr/>
          <p:nvPr/>
        </p:nvSpPr>
        <p:spPr>
          <a:xfrm>
            <a:off x="6903720" y="3474720"/>
            <a:ext cx="17373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C69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49440" y="3511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layer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949440" y="37673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narration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486400" y="2834640"/>
            <a:ext cx="1417320" cy="914400"/>
          </a:xfrm>
          <a:prstGeom prst="line">
            <a:avLst/>
          </a:prstGeom>
          <a:noFill/>
          <a:ln w="12700">
            <a:solidFill>
              <a:srgbClr val="DC6900"/>
            </a:solidFill>
            <a:prstDash val="solid"/>
            <a:tailEnd type="arrow"/>
          </a:ln>
        </p:spPr>
      </p:sp>
      <p:sp>
        <p:nvSpPr>
          <p:cNvPr id="45" name="Text 42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Datasphere first: governed semantics, no replication, business-friendly views, and Delta Sharing into Databricks without ETL.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platform detects a Black Swan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LLM monitoring agent — not human keyword search.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956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Swan Budget Resilience Platform  |  End-State 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22208" y="3291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4846320" cy="713232"/>
          </a:xfrm>
          <a:prstGeom prst="rect">
            <a:avLst/>
          </a:prstGeom>
          <a:solidFill>
            <a:srgbClr val="F7F2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0432" y="152704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180136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 pull from news APIs (Reuters, Bloomberg, GDELT), supplier RSS, port alerts, and weather feeds — every 15 minutes.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03704"/>
            <a:ext cx="4846320" cy="713232"/>
          </a:xfrm>
          <a:prstGeom prst="rect">
            <a:avLst/>
          </a:prstGeom>
          <a:solidFill>
            <a:srgbClr val="F7F2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3408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70432" y="231343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258775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tags each event by category, severity and geography. Output is a structured JSON signal — not free text.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90088"/>
            <a:ext cx="4846320" cy="713232"/>
          </a:xfrm>
          <a:prstGeom prst="rect">
            <a:avLst/>
          </a:prstGeom>
          <a:solidFill>
            <a:srgbClr val="F7F2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127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0432" y="309981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33741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joined against the client's supplier graph and material exposure in Datasphere. Only events that touch client risk surface escalate.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76472"/>
            <a:ext cx="4846320" cy="713232"/>
          </a:xfrm>
          <a:prstGeom prst="rect">
            <a:avLst/>
          </a:prstGeom>
          <a:solidFill>
            <a:srgbClr val="F7F2E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3913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70432" y="388620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416052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 configurable threshold, a Black Swan alert is raised in SAP Build with confidence score, suppliers, and time-to-impact.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1417320"/>
            <a:ext cx="3200400" cy="310896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SIGNAL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23560" y="1755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Strait of Hormuz blockade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623560" y="2121408"/>
            <a:ext cx="2926080" cy="0"/>
          </a:xfrm>
          <a:prstGeom prst="line">
            <a:avLst/>
          </a:prstGeom>
          <a:noFill/>
          <a:ln w="12700">
            <a:solidFill>
              <a:srgbClr val="DC6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2240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2A5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geopolitical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2A5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2A5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2A5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exposure: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suppliers, $84M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2A5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time_to_impact: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14–21 days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2A5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articles, 6 supplier alerts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2356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raises alert in SAP Build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LLM does — and what it does not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good readers of unstructured text. They are not good calculators over millions of rows.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956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Swan Budget Resilience Platform  |  End-State 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22208" y="3291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75E54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627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LLM DOES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22219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175E54"/>
          </a:solidFill>
          <a:ln w="12700">
            <a:solidFill>
              <a:srgbClr val="175E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unstructured news and filings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6791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175E54"/>
          </a:solidFill>
          <a:ln w="12700">
            <a:solidFill>
              <a:srgbClr val="175E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2606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event type, severity, geography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1363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175E54"/>
          </a:solidFill>
          <a:ln w="12700">
            <a:solidFill>
              <a:srgbClr val="175E5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063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 sources reporting the same event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5935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175E54"/>
          </a:solidFill>
          <a:ln w="12700">
            <a:solidFill>
              <a:srgbClr val="175E5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520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structured JSON signals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40507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175E54"/>
          </a:solidFill>
          <a:ln w="12700">
            <a:solidFill>
              <a:srgbClr val="175E5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3977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signals into stakeholder-friendly language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63440" y="1417320"/>
            <a:ext cx="40233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301E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600200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12080" y="1627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3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LLM DOES NOT DO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846320" y="22219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E0301E"/>
          </a:solidFill>
          <a:ln w="12700">
            <a:solidFill>
              <a:srgbClr val="E0301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8348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 millions of historical SAP records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846320" y="26791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E0301E"/>
          </a:solidFill>
          <a:ln w="12700">
            <a:solidFill>
              <a:srgbClr val="E0301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983480" y="2606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supplier reliability scores at scale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846320" y="31363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E0301E"/>
          </a:solidFill>
          <a:ln w="12700">
            <a:solidFill>
              <a:srgbClr val="E0301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983480" y="3063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cost or savings of a mitigation strategy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846320" y="35935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E0301E"/>
          </a:solidFill>
          <a:ln w="12700">
            <a:solidFill>
              <a:srgbClr val="E0301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983480" y="3520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scenario simulations across the supplier graph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846320" y="40507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E0301E"/>
          </a:solidFill>
          <a:ln w="12700">
            <a:solidFill>
              <a:srgbClr val="E0301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983480" y="3977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the FY budget directly — that is SAC's job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LLMs read and narrate. Databricks computes and grounds. SAC plans and writes back.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AND MITIGATION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Databricks turns signals into ranked strategies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on the client's own actuals — not LLM speculation.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956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Swan Budget Resilience Platform  |  End-State 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22208" y="3291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25603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002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6276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2212848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Swan Signal (JSON)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6243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suppliers, materials, geographies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3035808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Time-to-impact window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3447288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Datasphere via Delta Sharing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063240" y="2788920"/>
            <a:ext cx="182880" cy="0"/>
          </a:xfrm>
          <a:prstGeom prst="line">
            <a:avLst/>
          </a:prstGeom>
          <a:noFill/>
          <a:ln w="25400">
            <a:solidFill>
              <a:srgbClr val="DC6900"/>
            </a:solidFill>
            <a:prstDash val="solid"/>
            <a:tailEnd type="arrow"/>
          </a:ln>
        </p:spPr>
      </p:sp>
      <p:sp>
        <p:nvSpPr>
          <p:cNvPr id="21" name="Shape 18"/>
          <p:cNvSpPr/>
          <p:nvPr/>
        </p:nvSpPr>
        <p:spPr>
          <a:xfrm>
            <a:off x="3291840" y="1417320"/>
            <a:ext cx="2560320" cy="274320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60020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886200" y="16276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ML ENGINE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474720" y="2212848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02736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reliability scoring (gradient boosting)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474720" y="26243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02736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substitution lookups (historical BOMs)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474720" y="3035808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02736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savings forecasting per candidate strategy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474720" y="3447288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602736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ranking by net benefit, with confidence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897880" y="2788920"/>
            <a:ext cx="182880" cy="0"/>
          </a:xfrm>
          <a:prstGeom prst="line">
            <a:avLst/>
          </a:prstGeom>
          <a:noFill/>
          <a:ln w="25400">
            <a:solidFill>
              <a:srgbClr val="DC6900"/>
            </a:solidFill>
            <a:prstDash val="solid"/>
            <a:tailEnd type="arrow"/>
          </a:ln>
        </p:spPr>
      </p:sp>
      <p:sp>
        <p:nvSpPr>
          <p:cNvPr id="33" name="Shape 29"/>
          <p:cNvSpPr/>
          <p:nvPr/>
        </p:nvSpPr>
        <p:spPr>
          <a:xfrm>
            <a:off x="6126480" y="1417320"/>
            <a:ext cx="25603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60020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720840" y="16276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309360" y="2212848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37376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candidate strategies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309360" y="26243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437376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grounded in real $K cost or savings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309360" y="3035808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37376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 passed or flagged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309360" y="3447288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437376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rewrites into stakeholder language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F7F2EE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594360" y="437083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rule: 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 figure shown to the user traces back to a Databricks query on Datasphere data. The LLM never invents a number.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ML LAYER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runs in Databricks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 families, all consuming Datasphere via Delta Sharing.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956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Swan Budget Resilience Platform  |  End-State 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22208" y="3291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8191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536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 risk model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048256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1984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3 yrs of PO history, on-time delivery, geo, financial health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432304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23682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reliability score (0–100) per supplier, per material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28163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2752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rank dual-source candidates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0" y="141732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581912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67328" y="1536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impact model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383280" y="2048256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11296" y="1984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BOMs, material price history, FX, freight indices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383280" y="2432304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11296" y="23682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$K cost or savings forecast per mitigation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383280" y="28163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11296" y="2752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 reported alongside the point estimate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943600" y="141732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1581912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510528" y="1536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generator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126480" y="2048256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254496" y="1984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solver across substitution / dual-source / pass-through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126480" y="2432304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54496" y="23682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top-N strategies ranked by net benefit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126480" y="28163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254496" y="2752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Re-trained nightly on accepted vs. rejected mitigations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read from Datasphere views (no data copy) and write predictions back as Delta tables consumable by SAC.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LAYER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SAC recomputes the budget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Driver-based model designed for sub-second reforecasting.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956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Swan Budget Resilience Platform  |  End-State 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22208" y="3291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1920240" cy="1005840"/>
          </a:xfrm>
          <a:prstGeom prst="rect">
            <a:avLst/>
          </a:prstGeom>
          <a:solidFill>
            <a:srgbClr val="F7F2E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votes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strategies flagged in SAP Build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95728" y="1920240"/>
            <a:ext cx="146304" cy="0"/>
          </a:xfrm>
          <a:prstGeom prst="line">
            <a:avLst/>
          </a:prstGeom>
          <a:noFill/>
          <a:ln w="25400">
            <a:solidFill>
              <a:srgbClr val="DC6900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560320" y="1417320"/>
            <a:ext cx="1920240" cy="100584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C6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Strategies → drivers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5176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MIT-ID maps to one or more SAC drivers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98848" y="1920240"/>
            <a:ext cx="146304" cy="0"/>
          </a:xfrm>
          <a:prstGeom prst="line">
            <a:avLst/>
          </a:prstGeom>
          <a:noFill/>
          <a:ln w="25400">
            <a:solidFill>
              <a:srgbClr val="DC6900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663440" y="1417320"/>
            <a:ext cx="1920240" cy="100584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C6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 recomputes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Driver-based model fires; FY budget recasts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01968" y="1920240"/>
            <a:ext cx="146304" cy="0"/>
          </a:xfrm>
          <a:prstGeom prst="line">
            <a:avLst/>
          </a:prstGeom>
          <a:noFill/>
          <a:ln w="25400">
            <a:solidFill>
              <a:srgbClr val="DC6900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766560" y="1417320"/>
            <a:ext cx="1920240" cy="1005840"/>
          </a:xfrm>
          <a:prstGeom prst="rect">
            <a:avLst/>
          </a:prstGeom>
          <a:solidFill>
            <a:srgbClr val="F7F2E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 view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post-mitigation, with audit trail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7980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MODEL THIS IN SAC FOR FAST REFORECASTING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108960"/>
            <a:ext cx="2697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Driver-based 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520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budget = f(volume, material rate, labor, freight, scrap, hedge). Mitigations adjust driver values, not budget lines directly.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3108960"/>
            <a:ext cx="2697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&amp; layer strategy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0" y="3520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kept as a frozen public version. Each accepted mitigation creates a delta in a private version, then merged on board approval.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3108960"/>
            <a:ext cx="2697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integration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520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ML predictions consumed via SAC's Datasphere connector — no manual upload. Refresh on the order of seconds.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SAP Build, not React on the side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service layer + Fiori/UI5 frontend, deployed on BTP.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956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Swan Budget Resilience Platform  |  End-State 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22208" y="3291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78992" y="16276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BUILD STACK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 services (Node.js / Java)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008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2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orchestration, audit log API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Fiori / SAPUI5 frontend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2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views the user already knows from the demo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BTP runtime (Cloud Foundry / Kyma)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2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scaling, secrets, identity (XSUAA)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Joule integration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0080" y="4178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2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layer over the same APIs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51790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PRO-CODE, NOT LOW-CODE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63440" y="18562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17830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voting workflow needs custom state, version control, and rollback — beyond low-code patterns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63440" y="240487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00600" y="23317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with cryptographic timestamps requires custom CAP service — not a generic form action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63440" y="295351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28803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and Databricks invocations are orchestrated as long-running, retry-aware jobs — needs server-side code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663440" y="350215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34290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Planning calls (write-back, version create/merge) use BAPIs requiring controlled session handling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663440" y="40507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0600" y="39776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line ships to multiple clients via BTP multi-tenancy — low-code multiplies the maintenance cost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minutes from event to reforecast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trigger trace across the production stack.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956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Swan Budget Resilience Platform  |  End-State 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22208" y="3291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4188" y="1600200"/>
            <a:ext cx="10973" cy="2889504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5087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9050">
            <a:solidFill>
              <a:srgbClr val="A3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T+0:00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Agent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0" y="1463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Strait of Hormuz news cluster — emits Black Swan signal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18928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9050">
            <a:solidFill>
              <a:srgbClr val="A3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47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T+0:30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1847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 Build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18470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raised; Datasphere enriches with affected suppliers ($84M exposure)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22768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9050">
            <a:solidFill>
              <a:srgbClr val="A3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311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T+1:15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22311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Databricks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223113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ML models run in parallel; 7 ranked strategies returned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26609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9050">
            <a:solidFill>
              <a:srgbClr val="A32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1518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T+1:45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26151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Layer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83280" y="26151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narrated into stakeholder language; compliance check applied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304495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9050">
            <a:solidFill>
              <a:srgbClr val="A3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9992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T+2:00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83080" y="29992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 Build (UI5)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83280" y="29992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routed to 5 stakeholders; voting opens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0" y="34290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9050">
            <a:solidFill>
              <a:srgbClr val="A32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3832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T+5:30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8308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83280" y="3383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at 84%; 3 strategies selected; audit entries written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371600" y="38130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9050">
            <a:solidFill>
              <a:srgbClr val="A32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6732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T+5:45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83080" y="37673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 Planning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83280" y="37673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Driver-based model recomputes FY budget; side-by-side rendered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71600" y="41970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9050">
            <a:solidFill>
              <a:srgbClr val="A32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15137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T+6:00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83080" y="41513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S/4HANA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383280" y="415137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budget written back via SAC → S/4 connector; loop closed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minutes, eight components, zero manual coordination. The same loop a CFO ran in six weeks.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TRUST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enough for a CFO to 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identity, data residency, model guardrails.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956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Swan Budget Resilience Platform  |  End-State 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22208" y="3291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3619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490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0025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vote, comment, and model output stored with user, timestamp, payload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386584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23225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 table in Datasphere; exportable for internal audit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137160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536192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13048" y="1490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access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429000" y="20025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57016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XSUAA + corporate IdP (SSO)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429000" y="2386584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57016" y="23225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at view and field level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429000" y="27706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57016" y="2706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roles map to enterprise groups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035040" y="137160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536192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01968" y="1490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residency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217920" y="20025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45936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actuals stay in Datasphere — never sent to external LLM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217920" y="2386584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45936" y="23225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de-identified metadata flows to LLM API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217920" y="27706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345936" y="2706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BYO LLM in client tenant (Azure OpenAI)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57200" y="306324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227832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24128" y="3182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guardrails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640080" y="3694176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68096" y="3630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signals validated against schema before use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640080" y="4078224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68096" y="40142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 only surface if grounded by Databricks output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640080" y="446227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68096" y="43982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fallback library if LLM unavailable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3246120" y="306324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227832"/>
            <a:ext cx="329184" cy="329184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3813048" y="3182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checks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3429000" y="3694176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3557016" y="3630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strategy passes through configurable rules engine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429000" y="4078224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557016" y="40142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lock-ins, supplier sanctions, regional regulations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3429000" y="446227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3557016" y="43982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strategies cannot reach the vote without override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6035040" y="306324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227832"/>
            <a:ext cx="329184" cy="329184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6601968" y="3182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validation</a:t>
            </a:r>
            <a:endParaRPr lang="en-US" sz="1300" dirty="0"/>
          </a:p>
        </p:txBody>
      </p:sp>
      <p:sp>
        <p:nvSpPr>
          <p:cNvPr id="55" name="Shape 47"/>
          <p:cNvSpPr/>
          <p:nvPr/>
        </p:nvSpPr>
        <p:spPr>
          <a:xfrm>
            <a:off x="6217920" y="3694176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6345936" y="3630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strategies tracked against actual outcomes</a:t>
            </a:r>
            <a:endParaRPr lang="en-US" sz="1000" dirty="0"/>
          </a:p>
        </p:txBody>
      </p:sp>
      <p:sp>
        <p:nvSpPr>
          <p:cNvPr id="57" name="Shape 49"/>
          <p:cNvSpPr/>
          <p:nvPr/>
        </p:nvSpPr>
        <p:spPr>
          <a:xfrm>
            <a:off x="6217920" y="4078224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6345936" y="40142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monitored in Databricks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6217920" y="446227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6345936" y="43982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model review by client risk committee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prototype to production in three phases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shippable. Each phase has measurable client value.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956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Swan Budget Resilience Platform  |  End-State 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22208" y="3291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2697480" cy="91440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81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2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9933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foundation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25420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Datasphere views over S/4, Ariba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9992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Databricks model: supplier risk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4564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baseline budget on real actuals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9136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replace flat-file demo with live data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141732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1417320"/>
            <a:ext cx="2697480" cy="91440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481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2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19933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+ mitigation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383280" y="25420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detection agent live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29992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strategy ML models in Databricks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3280" y="34564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Build app with stakeholder voting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83280" y="39136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end-to-end loop on one industry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141732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1417320"/>
            <a:ext cx="2697480" cy="914400"/>
          </a:xfrm>
          <a:prstGeom prst="rect">
            <a:avLst/>
          </a:prstGeom>
          <a:solidFill>
            <a:srgbClr val="A32020"/>
          </a:solidFill>
          <a:ln w="12700">
            <a:solidFill>
              <a:srgbClr val="A32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1481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2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15–22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19933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Productionisation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72200" y="25420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on BTP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72200" y="29992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engine, audit, IdP integration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72200" y="34564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Continuous-learning pipeline live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72200" y="39136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2nd client onboarded in 3 weeks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A3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5720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EB8C00"/>
          </a:solidFill>
          <a:ln w="12700">
            <a:solidFill>
              <a:srgbClr val="EB8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" y="45720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B600"/>
          </a:solidFill>
          <a:ln w="12700">
            <a:solidFill>
              <a:srgbClr val="FFB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C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STATE, IN ONE 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detect.  Databricks decides.  SAC plans.  S/4 records.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1214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103120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layer earns its place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9572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unstructured reading. Databricks for grounded ML. SAC for budget logic. SAP Build for governance UX. No layer overlaps.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614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743200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never moves more than it has 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03580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Datasphere is the single semantic layer. Every consumer reads through it. Delta Sharing replaces ETL between SAP and Databricks.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383280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bounded, not blind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67588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 are schema-validated. Mitigation $ figures must trace to a Databricks query. Compliance and audit gate every decision.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C6900"/>
          </a:solidFill>
          <a:ln w="12700">
            <a:solidFill>
              <a:srgbClr val="DC6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4023360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Production-ready, multi-tenant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31596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Pro-code on SAP Build means one codebase, many clients. Phase 3 onboards the second client in three weeks.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Utkarsh Kumar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1948</Words>
  <Application>Microsoft Macintosh PowerPoint</Application>
  <PresentationFormat>On-screen Show (16:9)</PresentationFormat>
  <Paragraphs>304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Swan Budget Resilience Platform — End-State Architecture</dc:title>
  <dc:subject>PptxGenJS Presentation</dc:subject>
  <dc:creator>Utkarsh</dc:creator>
  <cp:lastModifiedBy>Microsoft Office User</cp:lastModifiedBy>
  <cp:revision>2</cp:revision>
  <dcterms:created xsi:type="dcterms:W3CDTF">2026-04-27T04:07:44Z</dcterms:created>
  <dcterms:modified xsi:type="dcterms:W3CDTF">2026-05-28T06:27:19Z</dcterms:modified>
</cp:coreProperties>
</file>